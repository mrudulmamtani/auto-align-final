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1697A-70F1-FF07-AA73-2F9711F3F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B151B-DA1C-6E1B-D4BC-EAEF715F7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FD2CD-9746-8EED-5C41-13097AC5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63F6-C0E9-EC68-5B9D-94BB4676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0B9E-AAB0-696C-9B84-351161E0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2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E024-407A-E902-6C5A-1A212BED9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8A95B-DCE7-F34F-147D-0EFACB4A0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4A9BB-7217-CC87-682D-6E0170DB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BC40C-05B6-8093-3F37-4F7FFB6E2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6B35-3186-DAF4-8DB6-CA728662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3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68BC-8E9A-BFFD-A606-0F96F3BA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5B3E4-FF6A-5B43-DEF5-6BCF61D1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52AF0-3DFD-9F01-48AF-631383B3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77A1F-F85D-052D-702B-6177BA8C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DEE8-1152-B964-04C7-910A5C91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500D-2B41-D8EB-FF56-498AFC94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6BC9D-2419-1F67-7CF0-4845EDC5C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ECC82-D018-8B27-F5DC-B20221E94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594F6-02E4-D39C-E463-1015D73A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1A0C2-46BD-206A-2AE4-7BA599B4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49022-7695-7182-6EC1-AFB402737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5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80A9-8E70-6E54-C651-D8C47840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9EA2-950D-8195-FFB9-39519B5D6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2C793-F05B-05B1-9506-D1E747CB8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C08107-3F20-0AA3-0D1C-44E5235F2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FA53E-1A52-B0ED-62B0-928762DA3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5BBB9-3B45-AAA9-0D40-8F12A2FBA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C969C-B63C-F7BE-E43B-5659D2A9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E391F-9176-6298-4C11-774F971B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5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6B26-F28B-92D4-2DE9-ADB19A0F4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43E1F-E42F-848D-37F1-A23CE26E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D58E4-974A-754D-478E-EF36DA81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8E82F-A6AE-417A-7729-C2151F54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4BB179-92C8-963D-C052-3EA85D523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265F8-B310-29AF-4DC8-1BA5A62F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77A2E-A751-70D8-FEAB-72D3977B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55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E204-1048-A260-66AE-EF4B43FBB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D844-767F-E6E0-15F1-2846B492D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6923B-8E5A-8ABD-4CC9-DADB0041A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57A92-FDEA-92B2-46B7-8A127F0F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05F0B-6AEF-6E09-7C37-EE3D8A10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CE54F-9E22-E919-3942-F5C8B39C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79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4C8C-C3FE-D7CA-BEA7-E5797A41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442E8-270F-1EA6-E3F3-4434398E8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ED43C-DADD-DAF4-FC54-F9E008D1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69FD-1016-550E-79A2-7BCFB8F5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DB830-6833-C4DA-75C2-2D47ED08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7A509-A78E-D42E-9145-0B348B9C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0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E659-D191-9AAC-DF66-30EA4D64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F0D40-3CE8-C335-92D6-3BAB9EA0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ACA29-FF87-FCEF-52C0-6FB3B00C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2B5A2-1B00-8CC7-A9C0-A3311988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42A3B-975A-63FE-FF4C-1A8B3A6EA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8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D195B-5CDE-A51D-7FA3-F2A7F2963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C24A4-9702-CE40-C987-6AA045F0C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B486D-BE59-5A6C-251E-8B568D57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C94DA-2300-B376-8431-40383DB1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084A0-1A58-42DD-E56F-691A7227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0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0651B-56A3-3308-B0EA-60691A3D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88E65-8E97-BC22-5372-F0E4E6604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3941E-067D-610C-C4E7-A987F3BC9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178D3-4E64-4D35-9A26-994468BBC13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720E5-0D4E-16DF-3278-C6AEAB527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653B0-DACD-D6F3-2FE3-E08441BBF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54BE3-355A-43F3-9C28-3923072696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opAccent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2B5EA7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BottomAccent"/>
          <p:cNvSpPr/>
          <p:nvPr/>
        </p:nvSpPr>
        <p:spPr>
          <a:xfrm>
            <a:off x="10058400" y="6766560"/>
            <a:ext cx="2133600" cy="36576"/>
          </a:xfrm>
          <a:prstGeom prst="rect">
            <a:avLst/>
          </a:prstGeom>
          <a:solidFill>
            <a:srgbClr val="2B5EA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BottomLine"/>
          <p:cNvSpPr/>
          <p:nvPr/>
        </p:nvSpPr>
        <p:spPr>
          <a:xfrm>
            <a:off x="0" y="6705600"/>
            <a:ext cx="12192000" cy="27432"/>
          </a:xfrm>
          <a:prstGeom prst="rect">
            <a:avLst/>
          </a:prstGeom>
          <a:solidFill>
            <a:srgbClr val="2B5EA7">
              <a:alpha val="25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009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556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556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556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556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68FC-C199-4F24-07DE-4E2DAF29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2957" y="2786743"/>
            <a:ext cx="7326086" cy="723220"/>
          </a:xfrm>
        </p:spPr>
        <p:txBody>
          <a:bodyPr>
            <a:normAutofit/>
          </a:bodyPr>
          <a:lstStyle/>
          <a:p>
            <a:r>
              <a:rPr lang="en-US" sz="3600" dirty="0"/>
              <a:t>Semantic Control Mapping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1C4B3-E74A-0C01-6379-2C54BBF9A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NIST 800-53 → UAE IA Framework
Technical Architecture &amp; Methodology</a:t>
            </a:r>
          </a:p>
        </p:txBody>
      </p:sp>
    </p:spTree>
    <p:extLst>
      <p:ext uri="{BB962C8B-B14F-4D97-AF65-F5344CB8AC3E}">
        <p14:creationId xmlns:p14="http://schemas.microsoft.com/office/powerpoint/2010/main" val="285251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3FD940D-57C7-483F-1DB9-03B239E6B933}"/>
              </a:ext>
            </a:extLst>
          </p:cNvPr>
          <p:cNvGrpSpPr/>
          <p:nvPr/>
        </p:nvGrpSpPr>
        <p:grpSpPr>
          <a:xfrm>
            <a:off x="747661" y="2032000"/>
            <a:ext cx="4014839" cy="1397000"/>
            <a:chOff x="508000" y="1333500"/>
            <a:chExt cx="4014839" cy="13970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9ED723E-A3AB-4EAA-85F6-87934C8AE266}"/>
                </a:ext>
              </a:extLst>
            </p:cNvPr>
            <p:cNvSpPr/>
            <p:nvPr/>
          </p:nvSpPr>
          <p:spPr>
            <a:xfrm>
              <a:off x="508000" y="1333500"/>
              <a:ext cx="4014839" cy="1397000"/>
            </a:xfrm>
            <a:prstGeom prst="roundRect">
              <a:avLst/>
            </a:prstGeom>
            <a:solidFill>
              <a:srgbClr val="F0F2F5"/>
            </a:solidFill>
            <a:ln w="19050" cap="flat" cmpd="sng" algn="ctr">
              <a:solidFill>
                <a:srgbClr val="2B5EA7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ED3AE7A-F5FB-4BCC-8A09-F545446E323F}"/>
                </a:ext>
              </a:extLst>
            </p:cNvPr>
            <p:cNvSpPr txBox="1"/>
            <p:nvPr/>
          </p:nvSpPr>
          <p:spPr>
            <a:xfrm>
              <a:off x="698500" y="1498600"/>
              <a:ext cx="2329835" cy="369332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b="1" dirty="0">
                  <a:solidFill>
                    <a:srgbClr val="2B5EA7"/>
                  </a:solidFill>
                </a:rPr>
                <a:t>UAE IA Framework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23E81E-6DBD-461A-A62A-F82267BF517A}"/>
                </a:ext>
              </a:extLst>
            </p:cNvPr>
            <p:cNvSpPr txBox="1"/>
            <p:nvPr/>
          </p:nvSpPr>
          <p:spPr>
            <a:xfrm>
              <a:off x="698500" y="1869973"/>
              <a:ext cx="3627694" cy="58477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600">
                  <a:solidFill>
                    <a:srgbClr val="4A5568"/>
                  </a:solidFill>
                </a:rPr>
                <a:t>Domains → Subdomains → Controls
187 controls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FE633A-4E25-6C33-7A9C-81CF817151E5}"/>
              </a:ext>
            </a:extLst>
          </p:cNvPr>
          <p:cNvGrpSpPr/>
          <p:nvPr/>
        </p:nvGrpSpPr>
        <p:grpSpPr>
          <a:xfrm>
            <a:off x="7338962" y="2075671"/>
            <a:ext cx="3914877" cy="1397000"/>
            <a:chOff x="6350000" y="1498600"/>
            <a:chExt cx="3914877" cy="13970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84ADBA2-4CC2-4439-B3FD-E6FB8A054733}"/>
                </a:ext>
              </a:extLst>
            </p:cNvPr>
            <p:cNvSpPr/>
            <p:nvPr/>
          </p:nvSpPr>
          <p:spPr>
            <a:xfrm>
              <a:off x="6350000" y="1498600"/>
              <a:ext cx="3914877" cy="1397000"/>
            </a:xfrm>
            <a:prstGeom prst="roundRect">
              <a:avLst/>
            </a:prstGeom>
            <a:solidFill>
              <a:srgbClr val="F0F2F5"/>
            </a:solidFill>
            <a:ln w="19050" cap="flat" cmpd="sng" algn="ctr">
              <a:solidFill>
                <a:srgbClr val="1A7F5A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DFE544-F8CE-4571-9C11-2587BDB9F96B}"/>
                </a:ext>
              </a:extLst>
            </p:cNvPr>
            <p:cNvSpPr txBox="1"/>
            <p:nvPr/>
          </p:nvSpPr>
          <p:spPr>
            <a:xfrm>
              <a:off x="6540500" y="1498600"/>
              <a:ext cx="1610442" cy="369332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b="1" dirty="0">
                  <a:solidFill>
                    <a:srgbClr val="1A7F5A"/>
                  </a:solidFill>
                </a:rPr>
                <a:t>NIST 800-53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AC2A74-BB6A-48C3-A947-3EC8BB65C039}"/>
                </a:ext>
              </a:extLst>
            </p:cNvPr>
            <p:cNvSpPr txBox="1"/>
            <p:nvPr/>
          </p:nvSpPr>
          <p:spPr>
            <a:xfrm>
              <a:off x="6540500" y="1968500"/>
              <a:ext cx="3724377" cy="58477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600" dirty="0">
                  <a:solidFill>
                    <a:srgbClr val="4A5568"/>
                  </a:solidFill>
                </a:rPr>
                <a:t>Families → Controls → Enhancements
1,196 controls</a:t>
              </a:r>
            </a:p>
          </p:txBody>
        </p:sp>
      </p:grpSp>
      <p:sp>
        <p:nvSpPr>
          <p:cNvPr id="9" name="Arrow: Right 8">
            <a:extLst>
              <a:ext uri="{FF2B5EF4-FFF2-40B4-BE49-F238E27FC236}">
                <a16:creationId xmlns:a16="http://schemas.microsoft.com/office/drawing/2014/main" id="{BFD5DDA3-B1E8-43E4-973D-D8DA76870295}"/>
              </a:ext>
            </a:extLst>
          </p:cNvPr>
          <p:cNvSpPr/>
          <p:nvPr/>
        </p:nvSpPr>
        <p:spPr>
          <a:xfrm>
            <a:off x="5461000" y="2545571"/>
            <a:ext cx="889000" cy="4445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526B0E-B437-F2A3-B54A-D43ABEB5CA21}"/>
              </a:ext>
            </a:extLst>
          </p:cNvPr>
          <p:cNvGrpSpPr/>
          <p:nvPr/>
        </p:nvGrpSpPr>
        <p:grpSpPr>
          <a:xfrm>
            <a:off x="3216787" y="3907543"/>
            <a:ext cx="5758426" cy="749875"/>
            <a:chOff x="1016000" y="4064000"/>
            <a:chExt cx="5758426" cy="74987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CF56973-D546-4B3E-ABFD-0D2DD3E69AFE}"/>
                </a:ext>
              </a:extLst>
            </p:cNvPr>
            <p:cNvSpPr/>
            <p:nvPr/>
          </p:nvSpPr>
          <p:spPr>
            <a:xfrm>
              <a:off x="1016000" y="4064000"/>
              <a:ext cx="5758426" cy="749875"/>
            </a:xfrm>
            <a:prstGeom prst="roundRect">
              <a:avLst/>
            </a:prstGeom>
            <a:solidFill>
              <a:srgbClr val="2B5EA7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DC8EE5-ADBC-464D-B05C-764D739B90C3}"/>
                </a:ext>
              </a:extLst>
            </p:cNvPr>
            <p:cNvSpPr txBox="1"/>
            <p:nvPr/>
          </p:nvSpPr>
          <p:spPr>
            <a:xfrm>
              <a:off x="1155495" y="4125316"/>
              <a:ext cx="5479435" cy="646331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i="1" dirty="0">
                  <a:solidFill>
                    <a:srgbClr val="FFFFFF"/>
                  </a:solidFill>
                </a:rPr>
                <a:t>For each NIST control, which UAE IA control expresses
the same security objective?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25F2FF1-90DC-4F4E-9BC2-E3F1C0349C20}"/>
              </a:ext>
            </a:extLst>
          </p:cNvPr>
          <p:cNvSpPr txBox="1"/>
          <p:nvPr/>
        </p:nvSpPr>
        <p:spPr>
          <a:xfrm>
            <a:off x="2249128" y="5636424"/>
            <a:ext cx="8201743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dirty="0">
                <a:solidFill>
                  <a:srgbClr val="1B2A4A"/>
                </a:solidFill>
              </a:rPr>
              <a:t>Our approach: Vector semantics — not manual mapping.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F5C9E-55D5-4253-BE5E-5FFE0ADDD988}"/>
              </a:ext>
            </a:extLst>
          </p:cNvPr>
          <p:cNvSpPr txBox="1"/>
          <p:nvPr/>
        </p:nvSpPr>
        <p:spPr>
          <a:xfrm>
            <a:off x="508000" y="381000"/>
            <a:ext cx="635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B2A4A"/>
                </a:solidFill>
              </a:rPr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106865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49CC2D-A74C-4BFA-9725-D7404EC92216}"/>
              </a:ext>
            </a:extLst>
          </p:cNvPr>
          <p:cNvSpPr txBox="1"/>
          <p:nvPr/>
        </p:nvSpPr>
        <p:spPr>
          <a:xfrm>
            <a:off x="508000" y="13335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B5EA7"/>
                </a:solidFill>
              </a:rPr>
              <a:t>Control Text (Input)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AA62BE-B884-4B8D-99EA-1275C34FE6E4}"/>
              </a:ext>
            </a:extLst>
          </p:cNvPr>
          <p:cNvSpPr/>
          <p:nvPr/>
        </p:nvSpPr>
        <p:spPr>
          <a:xfrm>
            <a:off x="508000" y="1778000"/>
            <a:ext cx="5080000" cy="1524000"/>
          </a:xfrm>
          <a:prstGeom prst="roundRect">
            <a:avLst/>
          </a:prstGeom>
          <a:solidFill>
            <a:srgbClr val="F0F2F5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AAB10-AE22-4F43-B3CB-EA6651AD88BE}"/>
              </a:ext>
            </a:extLst>
          </p:cNvPr>
          <p:cNvSpPr txBox="1"/>
          <p:nvPr/>
        </p:nvSpPr>
        <p:spPr>
          <a:xfrm>
            <a:off x="698500" y="1879600"/>
            <a:ext cx="4699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Access Control &gt;
Account Management:
Organizations must manage accounts
including creation, modification,
disabling and removal.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7E31D7F-DA21-4813-B968-C023DF096463}"/>
              </a:ext>
            </a:extLst>
          </p:cNvPr>
          <p:cNvSpPr/>
          <p:nvPr/>
        </p:nvSpPr>
        <p:spPr>
          <a:xfrm>
            <a:off x="5816600" y="2286000"/>
            <a:ext cx="698500" cy="3810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89557-D6F1-4579-8879-3CA3816BE996}"/>
              </a:ext>
            </a:extLst>
          </p:cNvPr>
          <p:cNvSpPr txBox="1"/>
          <p:nvPr/>
        </p:nvSpPr>
        <p:spPr>
          <a:xfrm>
            <a:off x="6731000" y="1333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7F5A"/>
                </a:solidFill>
              </a:rPr>
              <a:t>Embedding Vector (Output)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5E27EC-BB1E-48C4-924D-C743744FD46D}"/>
              </a:ext>
            </a:extLst>
          </p:cNvPr>
          <p:cNvSpPr/>
          <p:nvPr/>
        </p:nvSpPr>
        <p:spPr>
          <a:xfrm>
            <a:off x="6731000" y="1778000"/>
            <a:ext cx="4953000" cy="1524000"/>
          </a:xfrm>
          <a:prstGeom prst="roundRect">
            <a:avLst/>
          </a:prstGeom>
          <a:solidFill>
            <a:srgbClr val="F0F2F5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BC50E-9D78-4324-8FE5-E824B7CEDA68}"/>
              </a:ext>
            </a:extLst>
          </p:cNvPr>
          <p:cNvSpPr txBox="1"/>
          <p:nvPr/>
        </p:nvSpPr>
        <p:spPr>
          <a:xfrm>
            <a:off x="6921500" y="1879600"/>
            <a:ext cx="45720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[0.23, -0.91, 0.44, 0.12, ...]
3,072-dimensional vector
Encodes semantic meaning,
not keywords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2BE8C1-E495-47E7-99A6-D8664BD82747}"/>
              </a:ext>
            </a:extLst>
          </p:cNvPr>
          <p:cNvSpPr/>
          <p:nvPr/>
        </p:nvSpPr>
        <p:spPr>
          <a:xfrm>
            <a:off x="4382934" y="3687346"/>
            <a:ext cx="4264332" cy="558800"/>
          </a:xfrm>
          <a:prstGeom prst="roundRect">
            <a:avLst/>
          </a:prstGeom>
          <a:solidFill>
            <a:srgbClr val="2B5E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BBE60-745D-4B34-898E-7FE91D21A67C}"/>
              </a:ext>
            </a:extLst>
          </p:cNvPr>
          <p:cNvSpPr txBox="1"/>
          <p:nvPr/>
        </p:nvSpPr>
        <p:spPr>
          <a:xfrm>
            <a:off x="4598834" y="3801646"/>
            <a:ext cx="4264332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</a:rPr>
              <a:t>Model: text-embedding-3-large (OpenAI)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0CDABA-8ABB-C775-6E4A-FFDD7716814F}"/>
              </a:ext>
            </a:extLst>
          </p:cNvPr>
          <p:cNvGrpSpPr/>
          <p:nvPr/>
        </p:nvGrpSpPr>
        <p:grpSpPr>
          <a:xfrm>
            <a:off x="3511550" y="4745792"/>
            <a:ext cx="6007100" cy="1651000"/>
            <a:chOff x="508000" y="4572000"/>
            <a:chExt cx="6007100" cy="1651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82CE6E4-A7BF-4B13-9FBD-F001CB27DCD6}"/>
                </a:ext>
              </a:extLst>
            </p:cNvPr>
            <p:cNvSpPr/>
            <p:nvPr/>
          </p:nvSpPr>
          <p:spPr>
            <a:xfrm>
              <a:off x="508000" y="4572000"/>
              <a:ext cx="6007100" cy="1651000"/>
            </a:xfrm>
            <a:prstGeom prst="roundRect">
              <a:avLst/>
            </a:prstGeom>
            <a:solidFill>
              <a:srgbClr val="F8F5F0"/>
            </a:solidFill>
            <a:ln w="19050" cap="flat" cmpd="sng" algn="ctr">
              <a:solidFill>
                <a:srgbClr val="C4841D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43E974-676C-4AEE-B9AB-90AB9C26DE47}"/>
                </a:ext>
              </a:extLst>
            </p:cNvPr>
            <p:cNvSpPr txBox="1"/>
            <p:nvPr/>
          </p:nvSpPr>
          <p:spPr>
            <a:xfrm>
              <a:off x="762000" y="4673600"/>
              <a:ext cx="3003755" cy="338554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600" b="1">
                  <a:solidFill>
                    <a:srgbClr val="C4841D"/>
                  </a:solidFill>
                </a:rPr>
                <a:t>Why Embeddings?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0D74CF-AF56-414D-9559-0585C07406B3}"/>
                </a:ext>
              </a:extLst>
            </p:cNvPr>
            <p:cNvSpPr txBox="1"/>
            <p:nvPr/>
          </p:nvSpPr>
          <p:spPr>
            <a:xfrm>
              <a:off x="762000" y="5054600"/>
              <a:ext cx="5753100" cy="78483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1500" dirty="0">
                  <a:solidFill>
                    <a:srgbClr val="4A5568"/>
                  </a:solidFill>
                </a:rPr>
                <a:t>"Account Management" and "Identity Lifecycle" share
no keywords — but embeddings know they mean the same thing.
This is the core advantage over keyword or regex matching.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8BD136E-F8A5-4EBB-984B-CD604C234415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Step 1 — Text Serialization &amp; Embedding</a:t>
            </a:r>
          </a:p>
        </p:txBody>
      </p:sp>
    </p:spTree>
    <p:extLst>
      <p:ext uri="{BB962C8B-B14F-4D97-AF65-F5344CB8AC3E}">
        <p14:creationId xmlns:p14="http://schemas.microsoft.com/office/powerpoint/2010/main" val="58533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F1494E-BD50-4556-8F55-CDC770925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418961"/>
              </p:ext>
            </p:extLst>
          </p:nvPr>
        </p:nvGraphicFramePr>
        <p:xfrm>
          <a:off x="508000" y="1397000"/>
          <a:ext cx="6858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95945941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90125873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71500216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1777307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416714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UAE 1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UAE 2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UAE 3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... UAE 187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6452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B2A4A"/>
                          </a:solidFill>
                        </a:rPr>
                        <a:t>NIST 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0.55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0.31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0.62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9496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2A4A"/>
                          </a:solidFill>
                        </a:rPr>
                        <a:t>NIST 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0.40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7F5A"/>
                          </a:solidFill>
                        </a:rPr>
                        <a:t>0.52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0.37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99794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B2A4A"/>
                          </a:solidFill>
                        </a:rPr>
                        <a:t>NIST 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0.72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0.21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0.33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3930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B2A4A"/>
                          </a:solidFill>
                        </a:rPr>
                        <a:t>... NIST 1196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4A556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93449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7772DC-3D1A-4A30-B57A-D4C6C67B1115}"/>
              </a:ext>
            </a:extLst>
          </p:cNvPr>
          <p:cNvSpPr/>
          <p:nvPr/>
        </p:nvSpPr>
        <p:spPr>
          <a:xfrm>
            <a:off x="508000" y="4191000"/>
            <a:ext cx="6858000" cy="558800"/>
          </a:xfrm>
          <a:prstGeom prst="roundRect">
            <a:avLst/>
          </a:prstGeom>
          <a:solidFill>
            <a:srgbClr val="F0F2F5"/>
          </a:solidFill>
          <a:ln w="12700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70ABD-EB6C-4FD8-AC7F-9D3FBCDA8010}"/>
              </a:ext>
            </a:extLst>
          </p:cNvPr>
          <p:cNvSpPr txBox="1"/>
          <p:nvPr/>
        </p:nvSpPr>
        <p:spPr>
          <a:xfrm>
            <a:off x="698500" y="4267200"/>
            <a:ext cx="647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B2A4A"/>
                </a:solidFill>
              </a:rPr>
              <a:t>cosine_similarity( NIST_vectors, UAE_vectors )  →  1,196 × 187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B4D05-EA6E-42AE-969B-09EF68EBC3EC}"/>
              </a:ext>
            </a:extLst>
          </p:cNvPr>
          <p:cNvSpPr txBox="1"/>
          <p:nvPr/>
        </p:nvSpPr>
        <p:spPr>
          <a:xfrm>
            <a:off x="7874000" y="1397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B2A4A"/>
                </a:solidFill>
              </a:rPr>
              <a:t>Score Interpretation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DE9EFD-F921-4176-86D9-630ACE098999}"/>
              </a:ext>
            </a:extLst>
          </p:cNvPr>
          <p:cNvSpPr/>
          <p:nvPr/>
        </p:nvSpPr>
        <p:spPr>
          <a:xfrm>
            <a:off x="7874000" y="1879600"/>
            <a:ext cx="3937000" cy="482600"/>
          </a:xfrm>
          <a:prstGeom prst="roundRect">
            <a:avLst/>
          </a:prstGeom>
          <a:solidFill>
            <a:srgbClr val="E6F4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07852D-284D-4E53-993B-EE6168783BFA}"/>
              </a:ext>
            </a:extLst>
          </p:cNvPr>
          <p:cNvSpPr txBox="1"/>
          <p:nvPr/>
        </p:nvSpPr>
        <p:spPr>
          <a:xfrm>
            <a:off x="8064500" y="19431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7F5A"/>
                </a:solidFill>
              </a:rPr>
              <a:t>0.8+    Near identical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90CCDD-6DDF-407B-ADDE-377384379524}"/>
              </a:ext>
            </a:extLst>
          </p:cNvPr>
          <p:cNvSpPr/>
          <p:nvPr/>
        </p:nvSpPr>
        <p:spPr>
          <a:xfrm>
            <a:off x="7874000" y="2463800"/>
            <a:ext cx="3937000" cy="482600"/>
          </a:xfrm>
          <a:prstGeom prst="roundRect">
            <a:avLst/>
          </a:prstGeom>
          <a:solidFill>
            <a:srgbClr val="E8ED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C3205-7A9F-4D26-A797-8DB377D9E056}"/>
              </a:ext>
            </a:extLst>
          </p:cNvPr>
          <p:cNvSpPr txBox="1"/>
          <p:nvPr/>
        </p:nvSpPr>
        <p:spPr>
          <a:xfrm>
            <a:off x="8064500" y="25273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B5EA7"/>
                </a:solidFill>
              </a:rPr>
              <a:t>0.6    Strong match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0953A5-4D9B-4B3B-A8B8-CFACF17531C6}"/>
              </a:ext>
            </a:extLst>
          </p:cNvPr>
          <p:cNvSpPr/>
          <p:nvPr/>
        </p:nvSpPr>
        <p:spPr>
          <a:xfrm>
            <a:off x="7874000" y="3048000"/>
            <a:ext cx="3937000" cy="482600"/>
          </a:xfrm>
          <a:prstGeom prst="roundRect">
            <a:avLst/>
          </a:prstGeom>
          <a:solidFill>
            <a:srgbClr val="FEF3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B8090-9198-4F2B-8E84-61A0B36C8C5F}"/>
              </a:ext>
            </a:extLst>
          </p:cNvPr>
          <p:cNvSpPr txBox="1"/>
          <p:nvPr/>
        </p:nvSpPr>
        <p:spPr>
          <a:xfrm>
            <a:off x="8064500" y="31115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4841D"/>
                </a:solidFill>
              </a:rPr>
              <a:t>0.45    Moderate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763C19-D5C4-45BD-8540-F133748CB635}"/>
              </a:ext>
            </a:extLst>
          </p:cNvPr>
          <p:cNvSpPr/>
          <p:nvPr/>
        </p:nvSpPr>
        <p:spPr>
          <a:xfrm>
            <a:off x="7874000" y="3632200"/>
            <a:ext cx="3937000" cy="482600"/>
          </a:xfrm>
          <a:prstGeom prst="roundRect">
            <a:avLst/>
          </a:prstGeom>
          <a:solidFill>
            <a:srgbClr val="FEE2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6A503C-ED42-45ED-AB36-87EC26433D88}"/>
              </a:ext>
            </a:extLst>
          </p:cNvPr>
          <p:cNvSpPr txBox="1"/>
          <p:nvPr/>
        </p:nvSpPr>
        <p:spPr>
          <a:xfrm>
            <a:off x="8064500" y="36957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B83B3B"/>
                </a:solidFill>
              </a:rPr>
              <a:t>&lt; 0.4    Weak / reject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39C199-5489-4145-AAB9-822F86A8E17E}"/>
              </a:ext>
            </a:extLst>
          </p:cNvPr>
          <p:cNvSpPr txBox="1"/>
          <p:nvPr/>
        </p:nvSpPr>
        <p:spPr>
          <a:xfrm>
            <a:off x="7874000" y="4419600"/>
            <a:ext cx="393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</a:rPr>
              <a:t>Each cell is a pure semantic similarity score.
No rules applied yet — just math.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3AB87C-3501-4EED-B2AA-A17A02308180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Step 2 — Cosine Similarity Matrix</a:t>
            </a:r>
          </a:p>
        </p:txBody>
      </p:sp>
    </p:spTree>
    <p:extLst>
      <p:ext uri="{BB962C8B-B14F-4D97-AF65-F5344CB8AC3E}">
        <p14:creationId xmlns:p14="http://schemas.microsoft.com/office/powerpoint/2010/main" val="210108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0B80E1-3586-41ED-A202-4AA54800F80B}"/>
              </a:ext>
            </a:extLst>
          </p:cNvPr>
          <p:cNvSpPr txBox="1"/>
          <p:nvPr/>
        </p:nvSpPr>
        <p:spPr>
          <a:xfrm>
            <a:off x="508000" y="13716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B83B3B"/>
                </a:solidFill>
              </a:rPr>
              <a:t>The Problem with Pure Embeddings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DC101-10F8-4855-9F49-FE0951C3AF8F}"/>
              </a:ext>
            </a:extLst>
          </p:cNvPr>
          <p:cNvSpPr txBox="1"/>
          <p:nvPr/>
        </p:nvSpPr>
        <p:spPr>
          <a:xfrm>
            <a:off x="508000" y="1752600"/>
            <a:ext cx="635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Embeddings can confuse structurally similar terms.
"Continuous Monitoring" may match "Monitoring Logs" over the
correct domain match "Security Performance Monitoring".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FB001-E0D9-4F07-8FD2-0DEBC5A68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01028"/>
              </p:ext>
            </p:extLst>
          </p:nvPr>
        </p:nvGraphicFramePr>
        <p:xfrm>
          <a:off x="508000" y="2730500"/>
          <a:ext cx="6731000" cy="15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65834139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112874473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728797260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392454017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UAE Control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Raw Score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Boost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Adjusted</a:t>
                      </a:r>
                    </a:p>
                  </a:txBody>
                  <a:tcPr anchor="ctr">
                    <a:solidFill>
                      <a:srgbClr val="2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8301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Monitoring Logs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0.60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×1.00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0.60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62916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Security Perf. Monitoring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0.58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×1.15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0.67 ✓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4532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5A4481-D5C6-49A8-98F6-7A2E558C646B}"/>
              </a:ext>
            </a:extLst>
          </p:cNvPr>
          <p:cNvSpPr txBox="1"/>
          <p:nvPr/>
        </p:nvSpPr>
        <p:spPr>
          <a:xfrm>
            <a:off x="7747000" y="1371600"/>
            <a:ext cx="406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B2A4A"/>
                </a:solidFill>
              </a:rPr>
              <a:t>Boost Rules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6854D1-FF42-4B7C-9EE9-67E873473FFB}"/>
              </a:ext>
            </a:extLst>
          </p:cNvPr>
          <p:cNvSpPr/>
          <p:nvPr/>
        </p:nvSpPr>
        <p:spPr>
          <a:xfrm>
            <a:off x="7747000" y="1803400"/>
            <a:ext cx="4064000" cy="889000"/>
          </a:xfrm>
          <a:prstGeom prst="roundRect">
            <a:avLst/>
          </a:prstGeom>
          <a:solidFill>
            <a:srgbClr val="F0F2F5"/>
          </a:solidFill>
          <a:ln w="1270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DB450-51B0-4A8D-BACA-1984E1149AA8}"/>
              </a:ext>
            </a:extLst>
          </p:cNvPr>
          <p:cNvSpPr txBox="1"/>
          <p:nvPr/>
        </p:nvSpPr>
        <p:spPr>
          <a:xfrm>
            <a:off x="7899400" y="1879600"/>
            <a:ext cx="3759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Multiplier: ×1.15
Applied when NIST family aligns
with known UAE domain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B275E2-AE99-4D31-B1F3-3DEE92206B29}"/>
              </a:ext>
            </a:extLst>
          </p:cNvPr>
          <p:cNvSpPr/>
          <p:nvPr/>
        </p:nvSpPr>
        <p:spPr>
          <a:xfrm>
            <a:off x="7747000" y="2819400"/>
            <a:ext cx="4064000" cy="889000"/>
          </a:xfrm>
          <a:prstGeom prst="roundRect">
            <a:avLst/>
          </a:prstGeom>
          <a:solidFill>
            <a:srgbClr val="F0F2F5"/>
          </a:solidFill>
          <a:ln w="1270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50D963-5623-444D-98A8-1A5B6A073685}"/>
              </a:ext>
            </a:extLst>
          </p:cNvPr>
          <p:cNvSpPr txBox="1"/>
          <p:nvPr/>
        </p:nvSpPr>
        <p:spPr>
          <a:xfrm>
            <a:off x="7899400" y="2895600"/>
            <a:ext cx="3759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Guard: Only activates within
0.08 of the best score
Tie-breaker only — never override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1AA0D1-4331-439A-8C5F-85378112E790}"/>
              </a:ext>
            </a:extLst>
          </p:cNvPr>
          <p:cNvSpPr/>
          <p:nvPr/>
        </p:nvSpPr>
        <p:spPr>
          <a:xfrm>
            <a:off x="508000" y="4699000"/>
            <a:ext cx="11303000" cy="1397000"/>
          </a:xfrm>
          <a:prstGeom prst="roundRect">
            <a:avLst/>
          </a:prstGeom>
          <a:solidFill>
            <a:srgbClr val="F8F5F0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B301B1-83D8-4096-BB7F-4EEA0B2D6FD8}"/>
              </a:ext>
            </a:extLst>
          </p:cNvPr>
          <p:cNvSpPr txBox="1"/>
          <p:nvPr/>
        </p:nvSpPr>
        <p:spPr>
          <a:xfrm>
            <a:off x="762000" y="4800600"/>
            <a:ext cx="1079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4841D"/>
                </a:solidFill>
              </a:rPr>
              <a:t>Key Design 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7B2EE7-52C6-4750-B696-AD44123BC55B}"/>
              </a:ext>
            </a:extLst>
          </p:cNvPr>
          <p:cNvSpPr txBox="1"/>
          <p:nvPr/>
        </p:nvSpPr>
        <p:spPr>
          <a:xfrm>
            <a:off x="762000" y="5181600"/>
            <a:ext cx="10795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5568"/>
                </a:solidFill>
              </a:rPr>
              <a:t>Domain knowledge only breaks ties — it never overrides strong semantic matches.
This prevents hand-crafted rules from corrupting the embedding signal.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B40B0-4593-4239-B893-7AF4A0DAF239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Step 3 — Domain Alignment Boost</a:t>
            </a:r>
          </a:p>
        </p:txBody>
      </p:sp>
    </p:spTree>
    <p:extLst>
      <p:ext uri="{BB962C8B-B14F-4D97-AF65-F5344CB8AC3E}">
        <p14:creationId xmlns:p14="http://schemas.microsoft.com/office/powerpoint/2010/main" val="226488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83B1B-3B42-4109-83B7-C0E717060C4B}"/>
              </a:ext>
            </a:extLst>
          </p:cNvPr>
          <p:cNvSpPr txBox="1"/>
          <p:nvPr/>
        </p:nvSpPr>
        <p:spPr>
          <a:xfrm>
            <a:off x="508000" y="1270000"/>
            <a:ext cx="1117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4A5568"/>
                </a:solidFill>
              </a:rPr>
              <a:t>A mapping is only accepted if it passes all validation checks. No forced matches.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FE75A1-D986-4D48-8DD4-A67CB2A4B2A5}"/>
              </a:ext>
            </a:extLst>
          </p:cNvPr>
          <p:cNvSpPr/>
          <p:nvPr/>
        </p:nvSpPr>
        <p:spPr>
          <a:xfrm>
            <a:off x="508000" y="1841500"/>
            <a:ext cx="3556000" cy="2413000"/>
          </a:xfrm>
          <a:prstGeom prst="roundRect">
            <a:avLst/>
          </a:prstGeom>
          <a:solidFill>
            <a:srgbClr val="E8EDF3"/>
          </a:solidFill>
          <a:ln w="1905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75F007-8A8B-4CE0-A4BA-DC664D64B5B9}"/>
              </a:ext>
            </a:extLst>
          </p:cNvPr>
          <p:cNvSpPr/>
          <p:nvPr/>
        </p:nvSpPr>
        <p:spPr>
          <a:xfrm>
            <a:off x="660400" y="1968500"/>
            <a:ext cx="406400" cy="406400"/>
          </a:xfrm>
          <a:prstGeom prst="ellipse">
            <a:avLst/>
          </a:prstGeom>
          <a:solidFill>
            <a:srgbClr val="2B5E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7C061-2446-4D3E-B012-1C13CF886B16}"/>
              </a:ext>
            </a:extLst>
          </p:cNvPr>
          <p:cNvSpPr txBox="1"/>
          <p:nvPr/>
        </p:nvSpPr>
        <p:spPr>
          <a:xfrm>
            <a:off x="1168400" y="1981200"/>
            <a:ext cx="274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5EA7"/>
                </a:solidFill>
              </a:rPr>
              <a:t>Minimum Threshold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8D4A58-E7C0-46DE-9E61-8DC35CF78AE0}"/>
              </a:ext>
            </a:extLst>
          </p:cNvPr>
          <p:cNvSpPr/>
          <p:nvPr/>
        </p:nvSpPr>
        <p:spPr>
          <a:xfrm>
            <a:off x="660400" y="2476500"/>
            <a:ext cx="32512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4E619-F32B-4088-BF4F-A8C85F026A06}"/>
              </a:ext>
            </a:extLst>
          </p:cNvPr>
          <p:cNvSpPr txBox="1"/>
          <p:nvPr/>
        </p:nvSpPr>
        <p:spPr>
          <a:xfrm>
            <a:off x="787400" y="25146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B2A4A"/>
                </a:solidFill>
              </a:rPr>
              <a:t>raw_sim ≥ 0.42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9E0AF-8F71-4E78-80AC-8773A1F5B5B0}"/>
              </a:ext>
            </a:extLst>
          </p:cNvPr>
          <p:cNvSpPr txBox="1"/>
          <p:nvPr/>
        </p:nvSpPr>
        <p:spPr>
          <a:xfrm>
            <a:off x="660400" y="2959100"/>
            <a:ext cx="325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Prevents garbage matches
where controls are unrelated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1BED1-1113-4482-A63B-E9454F686A51}"/>
              </a:ext>
            </a:extLst>
          </p:cNvPr>
          <p:cNvSpPr txBox="1"/>
          <p:nvPr/>
        </p:nvSpPr>
        <p:spPr>
          <a:xfrm>
            <a:off x="660400" y="3594100"/>
            <a:ext cx="325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2B5EA7"/>
                </a:solidFill>
              </a:rPr>
              <a:t>0.31 → Rejected (unrelated)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1D9D1B-160E-469F-B817-CDEE831A4DEA}"/>
              </a:ext>
            </a:extLst>
          </p:cNvPr>
          <p:cNvSpPr/>
          <p:nvPr/>
        </p:nvSpPr>
        <p:spPr>
          <a:xfrm>
            <a:off x="4381500" y="1841500"/>
            <a:ext cx="3556000" cy="2413000"/>
          </a:xfrm>
          <a:prstGeom prst="roundRect">
            <a:avLst/>
          </a:prstGeom>
          <a:solidFill>
            <a:srgbClr val="FEF3E2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85051-DEFF-40C7-9301-08293C48E496}"/>
              </a:ext>
            </a:extLst>
          </p:cNvPr>
          <p:cNvSpPr/>
          <p:nvPr/>
        </p:nvSpPr>
        <p:spPr>
          <a:xfrm>
            <a:off x="4533900" y="1968500"/>
            <a:ext cx="406400" cy="406400"/>
          </a:xfrm>
          <a:prstGeom prst="ellipse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50F76-1A41-48E6-B53E-30FEADECECAC}"/>
              </a:ext>
            </a:extLst>
          </p:cNvPr>
          <p:cNvSpPr txBox="1"/>
          <p:nvPr/>
        </p:nvSpPr>
        <p:spPr>
          <a:xfrm>
            <a:off x="5041900" y="1981200"/>
            <a:ext cx="274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C4841D"/>
                </a:solidFill>
              </a:rPr>
              <a:t>Margin Requirement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0F64A7-0038-4DA0-A106-F7E7510B4EA2}"/>
              </a:ext>
            </a:extLst>
          </p:cNvPr>
          <p:cNvSpPr/>
          <p:nvPr/>
        </p:nvSpPr>
        <p:spPr>
          <a:xfrm>
            <a:off x="4533900" y="2476500"/>
            <a:ext cx="32512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702D0-ACEE-46BF-9050-EDA8B74387E0}"/>
              </a:ext>
            </a:extLst>
          </p:cNvPr>
          <p:cNvSpPr txBox="1"/>
          <p:nvPr/>
        </p:nvSpPr>
        <p:spPr>
          <a:xfrm>
            <a:off x="4660900" y="25146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B2A4A"/>
                </a:solidFill>
              </a:rPr>
              <a:t>margin ≥ 0.03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26EAF-AAFF-419A-A6D3-930FED3E8084}"/>
              </a:ext>
            </a:extLst>
          </p:cNvPr>
          <p:cNvSpPr txBox="1"/>
          <p:nvPr/>
        </p:nvSpPr>
        <p:spPr>
          <a:xfrm>
            <a:off x="4533900" y="2959100"/>
            <a:ext cx="325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Best match must clearly beat
the runner-up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EF66FF-32E9-49E1-A4E2-126F40AD4F81}"/>
              </a:ext>
            </a:extLst>
          </p:cNvPr>
          <p:cNvSpPr txBox="1"/>
          <p:nvPr/>
        </p:nvSpPr>
        <p:spPr>
          <a:xfrm>
            <a:off x="4533900" y="3594100"/>
            <a:ext cx="325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C4841D"/>
                </a:solidFill>
              </a:rPr>
              <a:t>0.55 vs 0.54 → Rejected (ambiguous)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E64921F-4866-460F-B0AD-1DEE4706A973}"/>
              </a:ext>
            </a:extLst>
          </p:cNvPr>
          <p:cNvSpPr/>
          <p:nvPr/>
        </p:nvSpPr>
        <p:spPr>
          <a:xfrm>
            <a:off x="8255000" y="1841500"/>
            <a:ext cx="3556000" cy="2413000"/>
          </a:xfrm>
          <a:prstGeom prst="roundRect">
            <a:avLst/>
          </a:prstGeom>
          <a:solidFill>
            <a:srgbClr val="E6F4EA"/>
          </a:solidFill>
          <a:ln w="1905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7FFDA5-214B-4221-B5F6-829F49C22CC9}"/>
              </a:ext>
            </a:extLst>
          </p:cNvPr>
          <p:cNvSpPr/>
          <p:nvPr/>
        </p:nvSpPr>
        <p:spPr>
          <a:xfrm>
            <a:off x="8407400" y="1968500"/>
            <a:ext cx="406400" cy="406400"/>
          </a:xfrm>
          <a:prstGeom prst="ellipse">
            <a:avLst/>
          </a:prstGeom>
          <a:solidFill>
            <a:srgbClr val="1A7F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33BF27-6C71-4835-9A1A-3B1F73AB1565}"/>
              </a:ext>
            </a:extLst>
          </p:cNvPr>
          <p:cNvSpPr txBox="1"/>
          <p:nvPr/>
        </p:nvSpPr>
        <p:spPr>
          <a:xfrm>
            <a:off x="8915400" y="1981200"/>
            <a:ext cx="274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7F5A"/>
                </a:solidFill>
              </a:rPr>
              <a:t>Strong-Score Bypass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DAE826-DCAC-4479-809E-50D8E17105BB}"/>
              </a:ext>
            </a:extLst>
          </p:cNvPr>
          <p:cNvSpPr/>
          <p:nvPr/>
        </p:nvSpPr>
        <p:spPr>
          <a:xfrm>
            <a:off x="8407400" y="2476500"/>
            <a:ext cx="32512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D1D5D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B525B4-6BF7-4319-B82D-44EBBAAACA04}"/>
              </a:ext>
            </a:extLst>
          </p:cNvPr>
          <p:cNvSpPr txBox="1"/>
          <p:nvPr/>
        </p:nvSpPr>
        <p:spPr>
          <a:xfrm>
            <a:off x="8534400" y="2514600"/>
            <a:ext cx="2997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B2A4A"/>
                </a:solidFill>
              </a:rPr>
              <a:t>raw_sim ≥ 0.52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39F3DB-B309-4E80-BA9F-13C5285FD614}"/>
              </a:ext>
            </a:extLst>
          </p:cNvPr>
          <p:cNvSpPr txBox="1"/>
          <p:nvPr/>
        </p:nvSpPr>
        <p:spPr>
          <a:xfrm>
            <a:off x="8407400" y="2959100"/>
            <a:ext cx="3251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Very strong matches skip the
margin requirement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03B7C7-3BA7-47B4-982D-EAFE98F2E286}"/>
              </a:ext>
            </a:extLst>
          </p:cNvPr>
          <p:cNvSpPr txBox="1"/>
          <p:nvPr/>
        </p:nvSpPr>
        <p:spPr>
          <a:xfrm>
            <a:off x="8407400" y="3594100"/>
            <a:ext cx="325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1A7F5A"/>
                </a:solidFill>
              </a:rPr>
              <a:t>0.73 vs 0.71 → Accepted (strong)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5C5157-23A2-4E7D-B6D2-E99B82B10200}"/>
              </a:ext>
            </a:extLst>
          </p:cNvPr>
          <p:cNvSpPr/>
          <p:nvPr/>
        </p:nvSpPr>
        <p:spPr>
          <a:xfrm>
            <a:off x="508000" y="4572000"/>
            <a:ext cx="11176000" cy="1524000"/>
          </a:xfrm>
          <a:prstGeom prst="roundRect">
            <a:avLst/>
          </a:prstGeom>
          <a:solidFill>
            <a:srgbClr val="1B2A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689784-097D-4C94-91CE-9CC588D43B90}"/>
              </a:ext>
            </a:extLst>
          </p:cNvPr>
          <p:cNvSpPr txBox="1"/>
          <p:nvPr/>
        </p:nvSpPr>
        <p:spPr>
          <a:xfrm>
            <a:off x="762000" y="46609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Final Acceptance Rule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DC4E15-21F5-4B4F-9AA4-A25A8C105730}"/>
              </a:ext>
            </a:extLst>
          </p:cNvPr>
          <p:cNvSpPr txBox="1"/>
          <p:nvPr/>
        </p:nvSpPr>
        <p:spPr>
          <a:xfrm>
            <a:off x="762000" y="50292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3B82F6"/>
                </a:solidFill>
              </a:rPr>
              <a:t>raw ≥ 0.42   AND   ( margin ≥ 0.03   OR   raw ≥ 0.52 )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9B6456-9371-46D3-A9F6-0809676D1DEF}"/>
              </a:ext>
            </a:extLst>
          </p:cNvPr>
          <p:cNvSpPr txBox="1"/>
          <p:nvPr/>
        </p:nvSpPr>
        <p:spPr>
          <a:xfrm>
            <a:off x="762000" y="5461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A0B4C8"/>
                </a:solidFill>
              </a:rPr>
              <a:t>If not met → uae_ia_id = null  (no equivalent in UAE IA)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D25EDD-7B8F-49DA-B626-329612867A67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Step 4 — Validation Gate</a:t>
            </a:r>
          </a:p>
        </p:txBody>
      </p:sp>
    </p:spTree>
    <p:extLst>
      <p:ext uri="{BB962C8B-B14F-4D97-AF65-F5344CB8AC3E}">
        <p14:creationId xmlns:p14="http://schemas.microsoft.com/office/powerpoint/2010/main" val="148169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A9041E-3635-4C7F-AFCD-010FEFE17527}"/>
              </a:ext>
            </a:extLst>
          </p:cNvPr>
          <p:cNvSpPr/>
          <p:nvPr/>
        </p:nvSpPr>
        <p:spPr>
          <a:xfrm>
            <a:off x="508000" y="1460500"/>
            <a:ext cx="3302000" cy="3810000"/>
          </a:xfrm>
          <a:prstGeom prst="roundRect">
            <a:avLst/>
          </a:prstGeom>
          <a:solidFill>
            <a:srgbClr val="E8EDF3"/>
          </a:solidFill>
          <a:ln w="1905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B0AF3-0E10-4A77-BBF0-9DF421D29E52}"/>
              </a:ext>
            </a:extLst>
          </p:cNvPr>
          <p:cNvSpPr txBox="1"/>
          <p:nvPr/>
        </p:nvSpPr>
        <p:spPr>
          <a:xfrm>
            <a:off x="698500" y="1562100"/>
            <a:ext cx="2921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5EA7"/>
                </a:solidFill>
              </a:rPr>
              <a:t>NIST 800-53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798A8-4C22-4077-B70D-827F0B9DB8D9}"/>
              </a:ext>
            </a:extLst>
          </p:cNvPr>
          <p:cNvSpPr txBox="1"/>
          <p:nvPr/>
        </p:nvSpPr>
        <p:spPr>
          <a:xfrm>
            <a:off x="698500" y="19050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</a:rPr>
              <a:t>Atomic technical controls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5755F1-DC0A-4546-8FA8-DB4D0BA0EB07}"/>
              </a:ext>
            </a:extLst>
          </p:cNvPr>
          <p:cNvSpPr/>
          <p:nvPr/>
        </p:nvSpPr>
        <p:spPr>
          <a:xfrm>
            <a:off x="1016000" y="2349500"/>
            <a:ext cx="22860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AC-2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E4C18C-7163-4EC0-B2E9-3F7808D7DB76}"/>
              </a:ext>
            </a:extLst>
          </p:cNvPr>
          <p:cNvSpPr/>
          <p:nvPr/>
        </p:nvSpPr>
        <p:spPr>
          <a:xfrm>
            <a:off x="1016000" y="2806700"/>
            <a:ext cx="22860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IA-2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5E4E13-5B37-4164-8018-5C3E42465E95}"/>
              </a:ext>
            </a:extLst>
          </p:cNvPr>
          <p:cNvSpPr/>
          <p:nvPr/>
        </p:nvSpPr>
        <p:spPr>
          <a:xfrm>
            <a:off x="1016000" y="3263900"/>
            <a:ext cx="22860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IA-4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8EFD86-12F5-400B-86D0-7B25BEE72367}"/>
              </a:ext>
            </a:extLst>
          </p:cNvPr>
          <p:cNvSpPr/>
          <p:nvPr/>
        </p:nvSpPr>
        <p:spPr>
          <a:xfrm>
            <a:off x="1016000" y="3721100"/>
            <a:ext cx="22860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IA-5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21FD38-7DD6-490A-B4F9-88EEDE60C236}"/>
              </a:ext>
            </a:extLst>
          </p:cNvPr>
          <p:cNvSpPr/>
          <p:nvPr/>
        </p:nvSpPr>
        <p:spPr>
          <a:xfrm>
            <a:off x="1016000" y="4178300"/>
            <a:ext cx="2286000" cy="3810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IA-8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735A26-85DC-43A7-BE6A-000CE5EE9D1A}"/>
              </a:ext>
            </a:extLst>
          </p:cNvPr>
          <p:cNvSpPr/>
          <p:nvPr/>
        </p:nvSpPr>
        <p:spPr>
          <a:xfrm>
            <a:off x="3937000" y="2476500"/>
            <a:ext cx="635000" cy="2032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DE39336-A50D-43D6-AA3C-4F45406F0FEA}"/>
              </a:ext>
            </a:extLst>
          </p:cNvPr>
          <p:cNvSpPr/>
          <p:nvPr/>
        </p:nvSpPr>
        <p:spPr>
          <a:xfrm>
            <a:off x="3937000" y="2705100"/>
            <a:ext cx="635000" cy="2032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2B0D584-9C6A-4D0B-BEAD-A58DF2B9BBF6}"/>
              </a:ext>
            </a:extLst>
          </p:cNvPr>
          <p:cNvSpPr/>
          <p:nvPr/>
        </p:nvSpPr>
        <p:spPr>
          <a:xfrm>
            <a:off x="3937000" y="2933700"/>
            <a:ext cx="635000" cy="2032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13C6CFB-359F-4073-848E-E4D759FC1496}"/>
              </a:ext>
            </a:extLst>
          </p:cNvPr>
          <p:cNvSpPr/>
          <p:nvPr/>
        </p:nvSpPr>
        <p:spPr>
          <a:xfrm>
            <a:off x="3937000" y="3162300"/>
            <a:ext cx="635000" cy="2032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6D62A54-4F3C-4D80-BB64-4ED98EA00431}"/>
              </a:ext>
            </a:extLst>
          </p:cNvPr>
          <p:cNvSpPr/>
          <p:nvPr/>
        </p:nvSpPr>
        <p:spPr>
          <a:xfrm>
            <a:off x="3937000" y="3390900"/>
            <a:ext cx="635000" cy="2032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2A85E9-D939-427E-B75B-8A3360E467E9}"/>
              </a:ext>
            </a:extLst>
          </p:cNvPr>
          <p:cNvSpPr/>
          <p:nvPr/>
        </p:nvSpPr>
        <p:spPr>
          <a:xfrm>
            <a:off x="4762500" y="2222500"/>
            <a:ext cx="3048000" cy="1524000"/>
          </a:xfrm>
          <a:prstGeom prst="roundRect">
            <a:avLst/>
          </a:prstGeom>
          <a:solidFill>
            <a:srgbClr val="E6F4EA"/>
          </a:solidFill>
          <a:ln w="1905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DA534F-887D-4F7B-9AF9-C8986E913339}"/>
              </a:ext>
            </a:extLst>
          </p:cNvPr>
          <p:cNvSpPr txBox="1"/>
          <p:nvPr/>
        </p:nvSpPr>
        <p:spPr>
          <a:xfrm>
            <a:off x="4953000" y="23495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7F5A"/>
                </a:solidFill>
              </a:rPr>
              <a:t>UAE IA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841E6-E656-4E42-9701-3EBF19A2CAAB}"/>
              </a:ext>
            </a:extLst>
          </p:cNvPr>
          <p:cNvSpPr txBox="1"/>
          <p:nvPr/>
        </p:nvSpPr>
        <p:spPr>
          <a:xfrm>
            <a:off x="4953000" y="26670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4A5568"/>
                </a:solidFill>
              </a:rPr>
              <a:t>Broader compound controls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74773B-CC08-4D28-8DEB-5ECB64DD4583}"/>
              </a:ext>
            </a:extLst>
          </p:cNvPr>
          <p:cNvSpPr/>
          <p:nvPr/>
        </p:nvSpPr>
        <p:spPr>
          <a:xfrm>
            <a:off x="5143500" y="3073400"/>
            <a:ext cx="2286000" cy="444500"/>
          </a:xfrm>
          <a:prstGeom prst="roundRect">
            <a:avLst/>
          </a:prstGeom>
          <a:solidFill>
            <a:srgbClr val="FAFBFC"/>
          </a:solidFill>
          <a:ln w="9525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7F5A"/>
                </a:solidFill>
              </a:rPr>
              <a:t>T5.2.2 Identity Lifecycle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839D8-CD19-42EC-8948-A58E263298DC}"/>
              </a:ext>
            </a:extLst>
          </p:cNvPr>
          <p:cNvSpPr txBox="1"/>
          <p:nvPr/>
        </p:nvSpPr>
        <p:spPr>
          <a:xfrm>
            <a:off x="8255000" y="1460500"/>
            <a:ext cx="355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B2A4A"/>
                </a:solidFill>
              </a:rPr>
              <a:t>Design Rationale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0616E-9A8A-4AEE-A15C-F8343D38A8D0}"/>
              </a:ext>
            </a:extLst>
          </p:cNvPr>
          <p:cNvSpPr txBox="1"/>
          <p:nvPr/>
        </p:nvSpPr>
        <p:spPr>
          <a:xfrm>
            <a:off x="8255000" y="1879600"/>
            <a:ext cx="3556000" cy="2476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One UAE IA control often maps to
multiple NIST controls.
But each NIST control must belong
to exactly one UAE objective.
This many-to-one relationship
means we always map from the
more granular framework (NIST)
to the broader one (UAE IA).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AF6A602-ACEC-47B8-A6A3-6A6586E4AD0B}"/>
              </a:ext>
            </a:extLst>
          </p:cNvPr>
          <p:cNvSpPr/>
          <p:nvPr/>
        </p:nvSpPr>
        <p:spPr>
          <a:xfrm>
            <a:off x="508000" y="5461000"/>
            <a:ext cx="11303000" cy="825500"/>
          </a:xfrm>
          <a:prstGeom prst="roundRect">
            <a:avLst/>
          </a:prstGeom>
          <a:solidFill>
            <a:srgbClr val="FEF3E2"/>
          </a:solidFill>
          <a:ln w="1270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A076E-88F2-480A-9127-E3DB2F6EF4F8}"/>
              </a:ext>
            </a:extLst>
          </p:cNvPr>
          <p:cNvSpPr txBox="1"/>
          <p:nvPr/>
        </p:nvSpPr>
        <p:spPr>
          <a:xfrm>
            <a:off x="698500" y="55372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4841D"/>
                </a:solidFill>
              </a:rPr>
              <a:t>Why some controls map to null: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7ED1BB-777C-4C1C-9A2F-ACF9238773FA}"/>
              </a:ext>
            </a:extLst>
          </p:cNvPr>
          <p:cNvSpPr txBox="1"/>
          <p:nvPr/>
        </p:nvSpPr>
        <p:spPr>
          <a:xfrm>
            <a:off x="698500" y="5842000"/>
            <a:ext cx="1092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NIST enhancements too specific (e.g. AC-04(18) Security Attribute Binding)  |  UAE governance domains (M1, M2, M6) have no NIST equivalent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F56F2E-3714-4363-ADA5-41E19EBC5E80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Why the Mapping Is One-Way (NIST → UAE)</a:t>
            </a:r>
          </a:p>
        </p:txBody>
      </p:sp>
    </p:spTree>
    <p:extLst>
      <p:ext uri="{BB962C8B-B14F-4D97-AF65-F5344CB8AC3E}">
        <p14:creationId xmlns:p14="http://schemas.microsoft.com/office/powerpoint/2010/main" val="4008854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E690D-5AF7-4810-9952-4BB023068084}"/>
              </a:ext>
            </a:extLst>
          </p:cNvPr>
          <p:cNvSpPr txBox="1"/>
          <p:nvPr/>
        </p:nvSpPr>
        <p:spPr>
          <a:xfrm>
            <a:off x="508000" y="13716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B5EA7"/>
                </a:solidFill>
              </a:rPr>
              <a:t>① Embed NIST AC-2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588B12-D286-450A-AD52-0692FD9A62A7}"/>
              </a:ext>
            </a:extLst>
          </p:cNvPr>
          <p:cNvSpPr/>
          <p:nvPr/>
        </p:nvSpPr>
        <p:spPr>
          <a:xfrm>
            <a:off x="508000" y="1752600"/>
            <a:ext cx="3302000" cy="952500"/>
          </a:xfrm>
          <a:prstGeom prst="roundRect">
            <a:avLst/>
          </a:prstGeom>
          <a:solidFill>
            <a:srgbClr val="E8EDF3"/>
          </a:solidFill>
          <a:ln w="1270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1F1E6-359A-4B19-A4C1-56B49366C8DB}"/>
              </a:ext>
            </a:extLst>
          </p:cNvPr>
          <p:cNvSpPr txBox="1"/>
          <p:nvPr/>
        </p:nvSpPr>
        <p:spPr>
          <a:xfrm>
            <a:off x="660400" y="1866900"/>
            <a:ext cx="29972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B2A4A"/>
                </a:solidFill>
              </a:rPr>
              <a:t>AC-2 Account Management
→ [0.20, -0.85, 0.41, ...]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819E6BA-1143-414E-8126-1330F4CC1548}"/>
              </a:ext>
            </a:extLst>
          </p:cNvPr>
          <p:cNvSpPr/>
          <p:nvPr/>
        </p:nvSpPr>
        <p:spPr>
          <a:xfrm>
            <a:off x="3937000" y="2070100"/>
            <a:ext cx="444500" cy="2286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6A56C1-268E-407B-8CAC-4954F3B2F8B4}"/>
              </a:ext>
            </a:extLst>
          </p:cNvPr>
          <p:cNvSpPr txBox="1"/>
          <p:nvPr/>
        </p:nvSpPr>
        <p:spPr>
          <a:xfrm>
            <a:off x="4508500" y="13716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4841D"/>
                </a:solidFill>
              </a:rPr>
              <a:t>② Compare against all 187 UAE controls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5C0BA2-EF1B-4C33-BCFF-BBF25C14B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41598"/>
              </p:ext>
            </p:extLst>
          </p:nvPr>
        </p:nvGraphicFramePr>
        <p:xfrm>
          <a:off x="4508500" y="1752600"/>
          <a:ext cx="4064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183189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635314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UAE Control</a:t>
                      </a:r>
                    </a:p>
                  </a:txBody>
                  <a:tcPr anchor="ctr">
                    <a:solidFill>
                      <a:srgbClr val="C48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rgbClr val="C484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39281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T5.2.2 Identity lifecycle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A7F5A"/>
                          </a:solidFill>
                        </a:rPr>
                        <a:t>0.71</a:t>
                      </a: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6125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T5.1.1 Access policy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0.52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7079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T3.4 Logging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4A5568"/>
                          </a:solidFill>
                        </a:rPr>
                        <a:t>0.31</a:t>
                      </a: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090883"/>
                  </a:ext>
                </a:extLst>
              </a:tr>
            </a:tbl>
          </a:graphicData>
        </a:graphic>
      </p:graphicFrame>
      <p:sp>
        <p:nvSpPr>
          <p:cNvPr id="10" name="Arrow: Right 9">
            <a:extLst>
              <a:ext uri="{FF2B5EF4-FFF2-40B4-BE49-F238E27FC236}">
                <a16:creationId xmlns:a16="http://schemas.microsoft.com/office/drawing/2014/main" id="{1AA193D0-460C-405C-A98D-D9C90493A6CD}"/>
              </a:ext>
            </a:extLst>
          </p:cNvPr>
          <p:cNvSpPr/>
          <p:nvPr/>
        </p:nvSpPr>
        <p:spPr>
          <a:xfrm>
            <a:off x="8890000" y="2349500"/>
            <a:ext cx="444500" cy="228600"/>
          </a:xfrm>
          <a:prstGeom prst="rightArrow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69693-442D-43CF-8FF3-7EA3A18CC068}"/>
              </a:ext>
            </a:extLst>
          </p:cNvPr>
          <p:cNvSpPr txBox="1"/>
          <p:nvPr/>
        </p:nvSpPr>
        <p:spPr>
          <a:xfrm>
            <a:off x="9525000" y="137160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7F5A"/>
                </a:solidFill>
              </a:rPr>
              <a:t>③ Validate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BB35C7-1899-41A1-8DFA-7DFF8B2FE16B}"/>
              </a:ext>
            </a:extLst>
          </p:cNvPr>
          <p:cNvSpPr/>
          <p:nvPr/>
        </p:nvSpPr>
        <p:spPr>
          <a:xfrm>
            <a:off x="9525000" y="1752600"/>
            <a:ext cx="2222500" cy="1625600"/>
          </a:xfrm>
          <a:prstGeom prst="roundRect">
            <a:avLst/>
          </a:prstGeom>
          <a:solidFill>
            <a:srgbClr val="E6F4EA"/>
          </a:solidFill>
          <a:ln w="1270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6E71B-4BCA-4590-BA7E-28351815FACD}"/>
              </a:ext>
            </a:extLst>
          </p:cNvPr>
          <p:cNvSpPr txBox="1"/>
          <p:nvPr/>
        </p:nvSpPr>
        <p:spPr>
          <a:xfrm>
            <a:off x="9677400" y="1828800"/>
            <a:ext cx="1905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7F5A"/>
                </a:solidFill>
              </a:rPr>
              <a:t>raw = 0.71  ✓
≥ 0.42
margin = 0.19  ✓
≥ 0.03
Strong bypass  ✓
≥ 0.52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335456-AF6C-4354-881F-6823258B13F5}"/>
              </a:ext>
            </a:extLst>
          </p:cNvPr>
          <p:cNvSpPr/>
          <p:nvPr/>
        </p:nvSpPr>
        <p:spPr>
          <a:xfrm>
            <a:off x="1778000" y="3810000"/>
            <a:ext cx="8636000" cy="762000"/>
          </a:xfrm>
          <a:prstGeom prst="roundRect">
            <a:avLst/>
          </a:prstGeom>
          <a:solidFill>
            <a:srgbClr val="1A7F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388F5-D9DE-4B54-8105-566CA6B570AE}"/>
              </a:ext>
            </a:extLst>
          </p:cNvPr>
          <p:cNvSpPr txBox="1"/>
          <p:nvPr/>
        </p:nvSpPr>
        <p:spPr>
          <a:xfrm>
            <a:off x="1968500" y="3937000"/>
            <a:ext cx="8255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</a:rPr>
              <a:t>Result:   AC-2  →  T5.2.2 (Identity Lifecycle Management)   ✓ Accepted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553D16-8F12-4D97-977E-DEAA9E649E24}"/>
              </a:ext>
            </a:extLst>
          </p:cNvPr>
          <p:cNvSpPr txBox="1"/>
          <p:nvPr/>
        </p:nvSpPr>
        <p:spPr>
          <a:xfrm>
            <a:off x="508000" y="4889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B83B3B"/>
                </a:solidFill>
              </a:rPr>
              <a:t>Contrast — A Rejected Mapping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6A2F77-517B-4015-A748-146CDB6D9323}"/>
              </a:ext>
            </a:extLst>
          </p:cNvPr>
          <p:cNvSpPr/>
          <p:nvPr/>
        </p:nvSpPr>
        <p:spPr>
          <a:xfrm>
            <a:off x="508000" y="5270500"/>
            <a:ext cx="11176000" cy="889000"/>
          </a:xfrm>
          <a:prstGeom prst="roundRect">
            <a:avLst/>
          </a:prstGeom>
          <a:solidFill>
            <a:srgbClr val="FEE2E2"/>
          </a:solidFill>
          <a:ln w="12700" cap="flat" cmpd="sng" algn="ctr">
            <a:solidFill>
              <a:srgbClr val="B83B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9EAEB8-9D75-40C3-9ED4-11F4EA765193}"/>
              </a:ext>
            </a:extLst>
          </p:cNvPr>
          <p:cNvSpPr txBox="1"/>
          <p:nvPr/>
        </p:nvSpPr>
        <p:spPr>
          <a:xfrm>
            <a:off x="698500" y="5372100"/>
            <a:ext cx="10795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B83B3B"/>
                </a:solidFill>
              </a:rPr>
              <a:t>NIST AC-04(18) Security Attribute Binding → best match = 0.38
Below threshold (0.42) → uae_ia_id = null  —  No equivalent in UAE IA framework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AABCC-DE9C-4B7C-8A05-1BC9AB247969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Worked Example — AC-2 Account Management</a:t>
            </a:r>
          </a:p>
        </p:txBody>
      </p:sp>
    </p:spTree>
    <p:extLst>
      <p:ext uri="{BB962C8B-B14F-4D97-AF65-F5344CB8AC3E}">
        <p14:creationId xmlns:p14="http://schemas.microsoft.com/office/powerpoint/2010/main" val="4085424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09CE31-75A2-4588-86A2-213CA54FB1C6}"/>
              </a:ext>
            </a:extLst>
          </p:cNvPr>
          <p:cNvSpPr/>
          <p:nvPr/>
        </p:nvSpPr>
        <p:spPr>
          <a:xfrm>
            <a:off x="508000" y="1651000"/>
            <a:ext cx="1371600" cy="825500"/>
          </a:xfrm>
          <a:prstGeom prst="roundRect">
            <a:avLst/>
          </a:prstGeom>
          <a:solidFill>
            <a:srgbClr val="E8EDF3"/>
          </a:solidFill>
          <a:ln w="1905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OSCAL Controls
(Input)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E471972-EF46-4636-ABB6-B584D8383582}"/>
              </a:ext>
            </a:extLst>
          </p:cNvPr>
          <p:cNvSpPr/>
          <p:nvPr/>
        </p:nvSpPr>
        <p:spPr>
          <a:xfrm>
            <a:off x="1905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25B0E3-3EAF-405A-949A-3F811965DFE2}"/>
              </a:ext>
            </a:extLst>
          </p:cNvPr>
          <p:cNvSpPr/>
          <p:nvPr/>
        </p:nvSpPr>
        <p:spPr>
          <a:xfrm>
            <a:off x="2159000" y="1651000"/>
            <a:ext cx="1371600" cy="825500"/>
          </a:xfrm>
          <a:prstGeom prst="roundRect">
            <a:avLst/>
          </a:prstGeom>
          <a:solidFill>
            <a:srgbClr val="F0EBF8"/>
          </a:solidFill>
          <a:ln w="19050" cap="flat" cmpd="sng" algn="ctr">
            <a:solidFill>
              <a:srgbClr val="6B4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6B4FA0"/>
                </a:solidFill>
              </a:rPr>
              <a:t>Text
Serialization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681F761-2659-422B-B9CF-1D59722C5517}"/>
              </a:ext>
            </a:extLst>
          </p:cNvPr>
          <p:cNvSpPr/>
          <p:nvPr/>
        </p:nvSpPr>
        <p:spPr>
          <a:xfrm>
            <a:off x="3556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516A96-877B-4466-932A-36A4E0FC7479}"/>
              </a:ext>
            </a:extLst>
          </p:cNvPr>
          <p:cNvSpPr/>
          <p:nvPr/>
        </p:nvSpPr>
        <p:spPr>
          <a:xfrm>
            <a:off x="3810000" y="1651000"/>
            <a:ext cx="1371600" cy="825500"/>
          </a:xfrm>
          <a:prstGeom prst="roundRect">
            <a:avLst/>
          </a:prstGeom>
          <a:solidFill>
            <a:srgbClr val="E5F3F8"/>
          </a:solidFill>
          <a:ln w="19050" cap="flat" cmpd="sng" algn="ctr">
            <a:solidFill>
              <a:srgbClr val="2882A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882A8"/>
                </a:solidFill>
              </a:rPr>
              <a:t>Embeddings
(3,072-d)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71E117F-1746-46F7-AF3E-9944493AA676}"/>
              </a:ext>
            </a:extLst>
          </p:cNvPr>
          <p:cNvSpPr/>
          <p:nvPr/>
        </p:nvSpPr>
        <p:spPr>
          <a:xfrm>
            <a:off x="5207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F3969FC-E372-4803-9DE9-6CC50987FFD8}"/>
              </a:ext>
            </a:extLst>
          </p:cNvPr>
          <p:cNvSpPr/>
          <p:nvPr/>
        </p:nvSpPr>
        <p:spPr>
          <a:xfrm>
            <a:off x="5461000" y="1651000"/>
            <a:ext cx="1371600" cy="825500"/>
          </a:xfrm>
          <a:prstGeom prst="roundRect">
            <a:avLst/>
          </a:prstGeom>
          <a:solidFill>
            <a:srgbClr val="FEF3E2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C4841D"/>
                </a:solidFill>
              </a:rPr>
              <a:t>Similarity
Matrix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3B2B7C6-2845-45AA-96F9-16AF300A7C29}"/>
              </a:ext>
            </a:extLst>
          </p:cNvPr>
          <p:cNvSpPr/>
          <p:nvPr/>
        </p:nvSpPr>
        <p:spPr>
          <a:xfrm>
            <a:off x="6858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A1F75E9-23FB-4391-A36F-37836811B35A}"/>
              </a:ext>
            </a:extLst>
          </p:cNvPr>
          <p:cNvSpPr/>
          <p:nvPr/>
        </p:nvSpPr>
        <p:spPr>
          <a:xfrm>
            <a:off x="7112000" y="1651000"/>
            <a:ext cx="1371600" cy="825500"/>
          </a:xfrm>
          <a:prstGeom prst="roundRect">
            <a:avLst/>
          </a:prstGeom>
          <a:solidFill>
            <a:srgbClr val="FEF3E2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C4841D"/>
                </a:solidFill>
              </a:rPr>
              <a:t>Domain
Boost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01AEC0D-8E40-4862-B9E4-9A3C66B1FBD2}"/>
              </a:ext>
            </a:extLst>
          </p:cNvPr>
          <p:cNvSpPr/>
          <p:nvPr/>
        </p:nvSpPr>
        <p:spPr>
          <a:xfrm>
            <a:off x="8509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E842A6-B5A3-4FEB-96FE-4DF78CFD9CC0}"/>
              </a:ext>
            </a:extLst>
          </p:cNvPr>
          <p:cNvSpPr/>
          <p:nvPr/>
        </p:nvSpPr>
        <p:spPr>
          <a:xfrm>
            <a:off x="8763000" y="1651000"/>
            <a:ext cx="1371600" cy="825500"/>
          </a:xfrm>
          <a:prstGeom prst="roundRect">
            <a:avLst/>
          </a:prstGeom>
          <a:solidFill>
            <a:srgbClr val="FEE2E2"/>
          </a:solidFill>
          <a:ln w="19050" cap="flat" cmpd="sng" algn="ctr">
            <a:solidFill>
              <a:srgbClr val="B83B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B83B3B"/>
                </a:solidFill>
              </a:rPr>
              <a:t>Threshold
Validation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A2DB524-32FB-4A1A-A0AB-04F41DA8CBC6}"/>
              </a:ext>
            </a:extLst>
          </p:cNvPr>
          <p:cNvSpPr/>
          <p:nvPr/>
        </p:nvSpPr>
        <p:spPr>
          <a:xfrm>
            <a:off x="10160000" y="1974850"/>
            <a:ext cx="228600" cy="177800"/>
          </a:xfrm>
          <a:prstGeom prst="rightArrow">
            <a:avLst/>
          </a:prstGeom>
          <a:solidFill>
            <a:srgbClr val="4A55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69AEDE-29C7-40CE-A622-13C4783D9021}"/>
              </a:ext>
            </a:extLst>
          </p:cNvPr>
          <p:cNvSpPr/>
          <p:nvPr/>
        </p:nvSpPr>
        <p:spPr>
          <a:xfrm>
            <a:off x="10414000" y="1651000"/>
            <a:ext cx="1371600" cy="825500"/>
          </a:xfrm>
          <a:prstGeom prst="roundRect">
            <a:avLst/>
          </a:prstGeom>
          <a:solidFill>
            <a:srgbClr val="E6F4EA"/>
          </a:solidFill>
          <a:ln w="1905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7F5A"/>
                </a:solidFill>
              </a:rPr>
              <a:t>Final
Mapping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65DC3-1ADC-46DA-BE3F-AEA9F1C3C0ED}"/>
              </a:ext>
            </a:extLst>
          </p:cNvPr>
          <p:cNvSpPr txBox="1"/>
          <p:nvPr/>
        </p:nvSpPr>
        <p:spPr>
          <a:xfrm>
            <a:off x="508000" y="2857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B2A4A"/>
                </a:solidFill>
              </a:rPr>
              <a:t>Four Layers of Accuracy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C63D143-3E6D-453C-9315-A948EE452940}"/>
              </a:ext>
            </a:extLst>
          </p:cNvPr>
          <p:cNvSpPr/>
          <p:nvPr/>
        </p:nvSpPr>
        <p:spPr>
          <a:xfrm>
            <a:off x="508000" y="3302000"/>
            <a:ext cx="2730500" cy="1651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60AF49-979E-4FF1-A576-C410D6374F94}"/>
              </a:ext>
            </a:extLst>
          </p:cNvPr>
          <p:cNvSpPr/>
          <p:nvPr/>
        </p:nvSpPr>
        <p:spPr>
          <a:xfrm>
            <a:off x="635000" y="3429000"/>
            <a:ext cx="355600" cy="355600"/>
          </a:xfrm>
          <a:prstGeom prst="ellipse">
            <a:avLst/>
          </a:prstGeom>
          <a:solidFill>
            <a:srgbClr val="2B5E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4FD36D-41DC-46D3-9E7D-9A32036DE2BB}"/>
              </a:ext>
            </a:extLst>
          </p:cNvPr>
          <p:cNvSpPr txBox="1"/>
          <p:nvPr/>
        </p:nvSpPr>
        <p:spPr>
          <a:xfrm>
            <a:off x="1066800" y="3454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Semantic Embeddings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FA1D50-1D06-4217-9C45-F30A67982B2B}"/>
              </a:ext>
            </a:extLst>
          </p:cNvPr>
          <p:cNvSpPr txBox="1"/>
          <p:nvPr/>
        </p:nvSpPr>
        <p:spPr>
          <a:xfrm>
            <a:off x="660400" y="3873500"/>
            <a:ext cx="2438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Capture meaning beyond keywords.
text-embedding-3-large (3,072 dim)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691034-BF4C-42E6-A6B9-C2D8C4C353A7}"/>
              </a:ext>
            </a:extLst>
          </p:cNvPr>
          <p:cNvSpPr/>
          <p:nvPr/>
        </p:nvSpPr>
        <p:spPr>
          <a:xfrm>
            <a:off x="3403600" y="3302000"/>
            <a:ext cx="2730500" cy="1651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6B4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48C1DE-8217-42F4-B7D5-6889AEF4F204}"/>
              </a:ext>
            </a:extLst>
          </p:cNvPr>
          <p:cNvSpPr/>
          <p:nvPr/>
        </p:nvSpPr>
        <p:spPr>
          <a:xfrm>
            <a:off x="3530600" y="3429000"/>
            <a:ext cx="355600" cy="355600"/>
          </a:xfrm>
          <a:prstGeom prst="ellipse">
            <a:avLst/>
          </a:prstGeom>
          <a:solidFill>
            <a:srgbClr val="6B4F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914D98-D570-4092-B3E1-C0F9C5437ED2}"/>
              </a:ext>
            </a:extLst>
          </p:cNvPr>
          <p:cNvSpPr txBox="1"/>
          <p:nvPr/>
        </p:nvSpPr>
        <p:spPr>
          <a:xfrm>
            <a:off x="3962400" y="3454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6B4FA0"/>
                </a:solidFill>
              </a:rPr>
              <a:t>Hierarchical Context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EBAF67-C8B7-4BAD-A7CE-08F5926F6438}"/>
              </a:ext>
            </a:extLst>
          </p:cNvPr>
          <p:cNvSpPr txBox="1"/>
          <p:nvPr/>
        </p:nvSpPr>
        <p:spPr>
          <a:xfrm>
            <a:off x="3556000" y="3873500"/>
            <a:ext cx="2438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Full control path serialized:
Domain → Subdomain → Control text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3CF27F8-1201-47B1-8548-9A10F53EBCCB}"/>
              </a:ext>
            </a:extLst>
          </p:cNvPr>
          <p:cNvSpPr/>
          <p:nvPr/>
        </p:nvSpPr>
        <p:spPr>
          <a:xfrm>
            <a:off x="6299200" y="3302000"/>
            <a:ext cx="2730500" cy="1651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9F9BF2-C0C0-493D-A125-2F3DB9FC51C6}"/>
              </a:ext>
            </a:extLst>
          </p:cNvPr>
          <p:cNvSpPr/>
          <p:nvPr/>
        </p:nvSpPr>
        <p:spPr>
          <a:xfrm>
            <a:off x="6426200" y="3429000"/>
            <a:ext cx="355600" cy="355600"/>
          </a:xfrm>
          <a:prstGeom prst="ellipse">
            <a:avLst/>
          </a:prstGeom>
          <a:solidFill>
            <a:srgbClr val="C484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BE2E8E-DA44-4774-8F7D-8053A54228FE}"/>
              </a:ext>
            </a:extLst>
          </p:cNvPr>
          <p:cNvSpPr txBox="1"/>
          <p:nvPr/>
        </p:nvSpPr>
        <p:spPr>
          <a:xfrm>
            <a:off x="6858000" y="3454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C4841D"/>
                </a:solidFill>
              </a:rPr>
              <a:t>Domain Boost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DCFCA0-B719-414E-AE11-6F7925BF7025}"/>
              </a:ext>
            </a:extLst>
          </p:cNvPr>
          <p:cNvSpPr txBox="1"/>
          <p:nvPr/>
        </p:nvSpPr>
        <p:spPr>
          <a:xfrm>
            <a:off x="6451600" y="3873500"/>
            <a:ext cx="2438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Structural knowledge breaks ties
when scores are within 0.08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459683F-6002-4243-A59B-F3A67DCC6211}"/>
              </a:ext>
            </a:extLst>
          </p:cNvPr>
          <p:cNvSpPr/>
          <p:nvPr/>
        </p:nvSpPr>
        <p:spPr>
          <a:xfrm>
            <a:off x="9194800" y="3302000"/>
            <a:ext cx="2730500" cy="1651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126C174-3A05-4FE2-92DB-C8BA11A740A9}"/>
              </a:ext>
            </a:extLst>
          </p:cNvPr>
          <p:cNvSpPr/>
          <p:nvPr/>
        </p:nvSpPr>
        <p:spPr>
          <a:xfrm>
            <a:off x="9321800" y="3429000"/>
            <a:ext cx="355600" cy="355600"/>
          </a:xfrm>
          <a:prstGeom prst="ellipse">
            <a:avLst/>
          </a:prstGeom>
          <a:solidFill>
            <a:srgbClr val="1A7F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83425B-2013-44E9-ADDA-D02E2629E9F3}"/>
              </a:ext>
            </a:extLst>
          </p:cNvPr>
          <p:cNvSpPr txBox="1"/>
          <p:nvPr/>
        </p:nvSpPr>
        <p:spPr>
          <a:xfrm>
            <a:off x="9753600" y="3454400"/>
            <a:ext cx="203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1A7F5A"/>
                </a:solidFill>
              </a:rPr>
              <a:t>Threshold Gating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FF3387-BDD5-4A14-B236-68615EE1DBDB}"/>
              </a:ext>
            </a:extLst>
          </p:cNvPr>
          <p:cNvSpPr txBox="1"/>
          <p:nvPr/>
        </p:nvSpPr>
        <p:spPr>
          <a:xfrm>
            <a:off x="9347200" y="3873500"/>
            <a:ext cx="2438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Strict validation prevents false
mappings. Null if uncertain.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721B28-10BF-4FA6-92F8-F802885B71F8}"/>
              </a:ext>
            </a:extLst>
          </p:cNvPr>
          <p:cNvSpPr txBox="1"/>
          <p:nvPr/>
        </p:nvSpPr>
        <p:spPr>
          <a:xfrm>
            <a:off x="508000" y="5207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B2A4A"/>
                </a:solidFill>
              </a:rPr>
              <a:t>Output Files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D06BA1-45F6-4FEC-AB2E-BC5D982106A3}"/>
              </a:ext>
            </a:extLst>
          </p:cNvPr>
          <p:cNvSpPr/>
          <p:nvPr/>
        </p:nvSpPr>
        <p:spPr>
          <a:xfrm>
            <a:off x="508000" y="5562600"/>
            <a:ext cx="2540000" cy="431800"/>
          </a:xfrm>
          <a:prstGeom prst="roundRect">
            <a:avLst/>
          </a:prstGeom>
          <a:solidFill>
            <a:srgbClr val="E8EDF3"/>
          </a:solidFill>
          <a:ln w="1270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B5EA7"/>
                </a:solidFill>
              </a:rPr>
              <a:t>NIST2.json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29901DB-3E3B-4DE1-A9ED-7108726337CB}"/>
              </a:ext>
            </a:extLst>
          </p:cNvPr>
          <p:cNvSpPr/>
          <p:nvPr/>
        </p:nvSpPr>
        <p:spPr>
          <a:xfrm>
            <a:off x="3302000" y="5562600"/>
            <a:ext cx="3556000" cy="431800"/>
          </a:xfrm>
          <a:prstGeom prst="roundRect">
            <a:avLst/>
          </a:prstGeom>
          <a:solidFill>
            <a:srgbClr val="E6F4EA"/>
          </a:solidFill>
          <a:ln w="1270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7F5A"/>
                </a:solidFill>
              </a:rPr>
              <a:t>uae_to_nist_openai.json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BF6DEB-FEC5-45DA-A5B9-C7581D34BA16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End-to-End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82193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021E53-60E3-4CC5-BFF4-0FDBA8DD8DEE}"/>
              </a:ext>
            </a:extLst>
          </p:cNvPr>
          <p:cNvSpPr/>
          <p:nvPr/>
        </p:nvSpPr>
        <p:spPr>
          <a:xfrm>
            <a:off x="762000" y="1397000"/>
            <a:ext cx="10668000" cy="1016000"/>
          </a:xfrm>
          <a:prstGeom prst="roundRect">
            <a:avLst/>
          </a:prstGeom>
          <a:solidFill>
            <a:srgbClr val="E8EDF3"/>
          </a:solidFill>
          <a:ln w="2540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6DDE7-7156-4236-BBAA-F3D4B7DE8E91}"/>
              </a:ext>
            </a:extLst>
          </p:cNvPr>
          <p:cNvSpPr txBox="1"/>
          <p:nvPr/>
        </p:nvSpPr>
        <p:spPr>
          <a:xfrm>
            <a:off x="1016000" y="1498600"/>
            <a:ext cx="10160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1B2A4A"/>
                </a:solidFill>
              </a:rPr>
              <a:t>A semantic classifier that assigns each NIST control to the most similar
UAE IA control using embeddings, domain-aware tie-breaking,
and strict validation thresholds to prevent incorrect mappings.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A5A611-E484-4A37-8E94-392AEA49B03F}"/>
              </a:ext>
            </a:extLst>
          </p:cNvPr>
          <p:cNvSpPr/>
          <p:nvPr/>
        </p:nvSpPr>
        <p:spPr>
          <a:xfrm>
            <a:off x="762000" y="2730500"/>
            <a:ext cx="2540000" cy="1397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2B5EA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2D762-2015-4612-9660-A3A2A72754F7}"/>
              </a:ext>
            </a:extLst>
          </p:cNvPr>
          <p:cNvSpPr txBox="1"/>
          <p:nvPr/>
        </p:nvSpPr>
        <p:spPr>
          <a:xfrm>
            <a:off x="889000" y="28575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2B5EA7"/>
                </a:solidFill>
              </a:rPr>
              <a:t>1,196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3B4CA-B7BC-4224-92EE-58B42F370BCF}"/>
              </a:ext>
            </a:extLst>
          </p:cNvPr>
          <p:cNvSpPr txBox="1"/>
          <p:nvPr/>
        </p:nvSpPr>
        <p:spPr>
          <a:xfrm>
            <a:off x="889000" y="3429000"/>
            <a:ext cx="228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NIST controls
processed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6483B7-E2D9-49C7-828D-3FCADEE87260}"/>
              </a:ext>
            </a:extLst>
          </p:cNvPr>
          <p:cNvSpPr/>
          <p:nvPr/>
        </p:nvSpPr>
        <p:spPr>
          <a:xfrm>
            <a:off x="3492500" y="2730500"/>
            <a:ext cx="2540000" cy="1397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1A7F5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C941-F500-49F9-8984-AA24E7E81BA0}"/>
              </a:ext>
            </a:extLst>
          </p:cNvPr>
          <p:cNvSpPr txBox="1"/>
          <p:nvPr/>
        </p:nvSpPr>
        <p:spPr>
          <a:xfrm>
            <a:off x="3619500" y="28575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7F5A"/>
                </a:solidFill>
              </a:rPr>
              <a:t>187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F804E9-992F-4B43-873D-8314A86497ED}"/>
              </a:ext>
            </a:extLst>
          </p:cNvPr>
          <p:cNvSpPr txBox="1"/>
          <p:nvPr/>
        </p:nvSpPr>
        <p:spPr>
          <a:xfrm>
            <a:off x="3619500" y="3429000"/>
            <a:ext cx="228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UAE IA controls
matched against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FEC951-A57E-46CE-A0BF-37C8985545A9}"/>
              </a:ext>
            </a:extLst>
          </p:cNvPr>
          <p:cNvSpPr/>
          <p:nvPr/>
        </p:nvSpPr>
        <p:spPr>
          <a:xfrm>
            <a:off x="6223000" y="2730500"/>
            <a:ext cx="2540000" cy="1397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6B4FA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B846E-B3FE-4764-B31A-425B7824F10D}"/>
              </a:ext>
            </a:extLst>
          </p:cNvPr>
          <p:cNvSpPr txBox="1"/>
          <p:nvPr/>
        </p:nvSpPr>
        <p:spPr>
          <a:xfrm>
            <a:off x="6350000" y="28575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6B4FA0"/>
                </a:solidFill>
              </a:rPr>
              <a:t>3,072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AF128-1C01-4243-AA59-3FA4BA9F9B0F}"/>
              </a:ext>
            </a:extLst>
          </p:cNvPr>
          <p:cNvSpPr txBox="1"/>
          <p:nvPr/>
        </p:nvSpPr>
        <p:spPr>
          <a:xfrm>
            <a:off x="6350000" y="3429000"/>
            <a:ext cx="228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Embedding
dimensions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2ABAA5-DA11-4ED3-B076-A136C97CC2F1}"/>
              </a:ext>
            </a:extLst>
          </p:cNvPr>
          <p:cNvSpPr/>
          <p:nvPr/>
        </p:nvSpPr>
        <p:spPr>
          <a:xfrm>
            <a:off x="8953500" y="2730500"/>
            <a:ext cx="2540000" cy="1397000"/>
          </a:xfrm>
          <a:prstGeom prst="roundRect">
            <a:avLst/>
          </a:prstGeom>
          <a:solidFill>
            <a:srgbClr val="FAFBFC"/>
          </a:solidFill>
          <a:ln w="19050" cap="flat" cmpd="sng" algn="ctr">
            <a:solidFill>
              <a:srgbClr val="C4841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122139-DDCE-4159-B818-9BF912D8F5D6}"/>
              </a:ext>
            </a:extLst>
          </p:cNvPr>
          <p:cNvSpPr txBox="1"/>
          <p:nvPr/>
        </p:nvSpPr>
        <p:spPr>
          <a:xfrm>
            <a:off x="9080500" y="28575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C4841D"/>
                </a:solidFill>
              </a:rPr>
              <a:t>223,812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F42342-923B-43A1-9176-32DDC24CC216}"/>
              </a:ext>
            </a:extLst>
          </p:cNvPr>
          <p:cNvSpPr txBox="1"/>
          <p:nvPr/>
        </p:nvSpPr>
        <p:spPr>
          <a:xfrm>
            <a:off x="9080500" y="3429000"/>
            <a:ext cx="2286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5568"/>
                </a:solidFill>
              </a:rPr>
              <a:t>Similarity scores
computed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7A404-9821-450A-BC39-B161C833AD95}"/>
              </a:ext>
            </a:extLst>
          </p:cNvPr>
          <p:cNvSpPr txBox="1"/>
          <p:nvPr/>
        </p:nvSpPr>
        <p:spPr>
          <a:xfrm>
            <a:off x="762000" y="43815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B2A4A"/>
                </a:solidFill>
              </a:rPr>
              <a:t>Design Principles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988396-0AA6-489F-97CF-9ABAF38688AB}"/>
              </a:ext>
            </a:extLst>
          </p:cNvPr>
          <p:cNvSpPr/>
          <p:nvPr/>
        </p:nvSpPr>
        <p:spPr>
          <a:xfrm>
            <a:off x="762000" y="4864100"/>
            <a:ext cx="177800" cy="177800"/>
          </a:xfrm>
          <a:prstGeom prst="ellipse">
            <a:avLst/>
          </a:prstGeom>
          <a:solidFill>
            <a:srgbClr val="B83B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2AECB2-6096-4363-8F16-0F0BDE2FCB82}"/>
              </a:ext>
            </a:extLst>
          </p:cNvPr>
          <p:cNvSpPr txBox="1"/>
          <p:nvPr/>
        </p:nvSpPr>
        <p:spPr>
          <a:xfrm>
            <a:off x="1041400" y="4800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B83B3B"/>
                </a:solidFill>
              </a:rPr>
              <a:t>Precision over recall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97ABC-30AD-47DA-9328-037D353C3D2D}"/>
              </a:ext>
            </a:extLst>
          </p:cNvPr>
          <p:cNvSpPr txBox="1"/>
          <p:nvPr/>
        </p:nvSpPr>
        <p:spPr>
          <a:xfrm>
            <a:off x="3810000" y="4800600"/>
            <a:ext cx="736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5568"/>
                </a:solidFill>
              </a:rPr>
              <a:t>Better to say "no match" than force a bad mapping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2F5D16-F713-4A17-8D7C-066A4A24871A}"/>
              </a:ext>
            </a:extLst>
          </p:cNvPr>
          <p:cNvSpPr/>
          <p:nvPr/>
        </p:nvSpPr>
        <p:spPr>
          <a:xfrm>
            <a:off x="762000" y="5270500"/>
            <a:ext cx="177800" cy="177800"/>
          </a:xfrm>
          <a:prstGeom prst="ellipse">
            <a:avLst/>
          </a:prstGeom>
          <a:solidFill>
            <a:srgbClr val="2B5EA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50987-B474-46CF-9780-7D9DBB3FE6D4}"/>
              </a:ext>
            </a:extLst>
          </p:cNvPr>
          <p:cNvSpPr txBox="1"/>
          <p:nvPr/>
        </p:nvSpPr>
        <p:spPr>
          <a:xfrm>
            <a:off x="1041400" y="5207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B5EA7"/>
                </a:solidFill>
              </a:rPr>
              <a:t>Semantics over keywords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C3D460-4762-412F-B9E6-9CB44F53BCE7}"/>
              </a:ext>
            </a:extLst>
          </p:cNvPr>
          <p:cNvSpPr txBox="1"/>
          <p:nvPr/>
        </p:nvSpPr>
        <p:spPr>
          <a:xfrm>
            <a:off x="3810000" y="5207000"/>
            <a:ext cx="736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5568"/>
                </a:solidFill>
              </a:rPr>
              <a:t>Embeddings capture meaning that keyword matching misses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9C80E4-3516-4E13-8BAB-45C6536AEA36}"/>
              </a:ext>
            </a:extLst>
          </p:cNvPr>
          <p:cNvSpPr/>
          <p:nvPr/>
        </p:nvSpPr>
        <p:spPr>
          <a:xfrm>
            <a:off x="762000" y="5676900"/>
            <a:ext cx="177800" cy="177800"/>
          </a:xfrm>
          <a:prstGeom prst="ellipse">
            <a:avLst/>
          </a:prstGeom>
          <a:solidFill>
            <a:srgbClr val="1A7F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BF66EC-4980-4F22-8B4B-F2B0220F5F36}"/>
              </a:ext>
            </a:extLst>
          </p:cNvPr>
          <p:cNvSpPr txBox="1"/>
          <p:nvPr/>
        </p:nvSpPr>
        <p:spPr>
          <a:xfrm>
            <a:off x="1041400" y="5613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1A7F5A"/>
                </a:solidFill>
              </a:rPr>
              <a:t>Rules assist, not override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7DA6F7-1567-4F70-A619-4A32CA4DCB37}"/>
              </a:ext>
            </a:extLst>
          </p:cNvPr>
          <p:cNvSpPr txBox="1"/>
          <p:nvPr/>
        </p:nvSpPr>
        <p:spPr>
          <a:xfrm>
            <a:off x="3810000" y="5613400"/>
            <a:ext cx="736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5568"/>
                </a:solidFill>
              </a:rPr>
              <a:t>Domain knowledge only breaks ties — never overrides the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69B1F-90D4-45D9-AF33-5C4468F5D094}"/>
              </a:ext>
            </a:extLst>
          </p:cNvPr>
          <p:cNvSpPr txBox="1"/>
          <p:nvPr/>
        </p:nvSpPr>
        <p:spPr>
          <a:xfrm>
            <a:off x="508000" y="381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B2A4A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988862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Serif">
      <a:dk1>
        <a:srgbClr val="1B2A4A"/>
      </a:dk1>
      <a:lt1>
        <a:srgbClr val="FAFBFC"/>
      </a:lt1>
      <a:dk2>
        <a:srgbClr val="4A5568"/>
      </a:dk2>
      <a:lt2>
        <a:srgbClr val="F0F2F5"/>
      </a:lt2>
      <a:accent1>
        <a:srgbClr val="2B5EA7"/>
      </a:accent1>
      <a:accent2>
        <a:srgbClr val="1A7F5A"/>
      </a:accent2>
      <a:accent3>
        <a:srgbClr val="C4841D"/>
      </a:accent3>
      <a:accent4>
        <a:srgbClr val="B83B3B"/>
      </a:accent4>
      <a:accent5>
        <a:srgbClr val="6B4FA0"/>
      </a:accent5>
      <a:accent6>
        <a:srgbClr val="2882A8"/>
      </a:accent6>
      <a:hlink>
        <a:srgbClr val="467886"/>
      </a:hlink>
      <a:folHlink>
        <a:srgbClr val="96607D"/>
      </a:folHlink>
    </a:clrScheme>
    <a:fontScheme name="SerifPro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latino Linotype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19C7F0-3EE4-42B6-B722-8D8E9CD1F8FD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13662</TotalTime>
  <Words>947</Words>
  <Application>Microsoft Office PowerPoint</Application>
  <PresentationFormat>Widescreen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Georgia</vt:lpstr>
      <vt:lpstr>Palatino Linotype</vt:lpstr>
      <vt:lpstr>Office Theme</vt:lpstr>
      <vt:lpstr>Semantic Control Mapping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official work</dc:creator>
  <cp:lastModifiedBy>official work</cp:lastModifiedBy>
  <cp:revision>2</cp:revision>
  <dcterms:created xsi:type="dcterms:W3CDTF">2026-03-04T15:01:59Z</dcterms:created>
  <dcterms:modified xsi:type="dcterms:W3CDTF">2026-03-14T02:45:14Z</dcterms:modified>
</cp:coreProperties>
</file>